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9"/>
  </p:notesMasterIdLst>
  <p:handoutMasterIdLst>
    <p:handoutMasterId r:id="rId10"/>
  </p:handout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D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162" autoAdjust="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AED914-00A3-2E88-A8F3-3FA2770BF1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F25AA-B78D-7F12-AF74-6BFD6AE599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89C2-B0C7-4E1A-97FE-4EB3420B6DB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A1429-70ED-C074-239F-7479C65B1B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EC34C-3CD5-E169-6393-2ECA58515C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EA6B1-C5A9-480A-A608-F774BFAA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092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17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20–30 seconds. Animation: Fade title, then bullets one-by-one. Transition: Fade. Optional sound: soft instrumental only if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45–60 seconds. Animation: Appear bullets one-by-one. Transition: Push. Hyperlink suggestion: link the phrase 'ILO definition' to the ILO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50–60 seconds. Animation: two cards fly in from opposite sides. Transition: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45–60 seconds. Animation: bullets appear one-by-one; final takeaway zoom/fade. Transition: Fade. Hyperlink suggestion: MoSPI PLFS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D467F2E6-8B92-4CCE-8289-5AB9C6AC0C3B}" type="datetime1">
              <a:rPr lang="en-US" smtClean="0"/>
              <a:t>8/27/2026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11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4E3FE9-7F2B-40F2-B61C-FDB0957EC35F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1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D3172A-6023-403E-8A2C-960EF895EF39}" type="datetime1">
              <a:rPr lang="en-US" smtClean="0"/>
              <a:t>8/27/2026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21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EEB06-B385-4E62-83F4-DF5A8A9664F9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66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86206-79DD-4BD4-A08A-93BBEB9924A2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085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FDB95A-57C1-43A8-A1D0-27E0D1044FD6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176DB9-EEFC-4CE6-A677-42596670339D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05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59C8C18-8F84-4FAF-BFB7-3BC3EDD51C50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06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09A886-CA8C-4F48-8622-4B0F27446F9C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83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D8BBBD-C412-414E-AF1D-B96A0B0169AB}" type="datetime1">
              <a:rPr lang="en-US" smtClean="0"/>
              <a:t>8/27/2026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67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6CEB947-4C83-43F7-9143-9D7644294637}" type="datetime1">
              <a:rPr lang="en-US" smtClean="0"/>
              <a:t>8/27/2026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48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7D7A1D0-0E43-4DE8-9A29-545BC7485AD1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1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1FF32F9A-45F7-463B-BAF0-504E5949FDF5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06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39D321B4-E3F8-48B0-94E6-B265B02D376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49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9DBDFCCE-0EF9-4A33-81C2-1E9C5640DC2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949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5E9DB3-629D-4EE5-A072-64C60647FF5D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450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BD47E4-5AA7-46D2-A69D-059620A2A98F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279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AB190E7D-0468-4A6C-9A29-19A55147573D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08240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A8D9E28-F217-434E-BDA0-C0726AF5C719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00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401880-5972-4C57-A0AE-47BFA611D89A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634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4B5C6C-1A5C-47CC-BC88-AD49E665515B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18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97616A0-B5D3-4B18-B8A6-3900613661D7}" type="datetime1">
              <a:rPr lang="en-US" smtClean="0"/>
              <a:t>8/27/2026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F7C7A6-F42B-4B77-87A8-4E1CFA9CA06A}" type="datetime1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454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7FEB17B-EB0B-4C2F-A262-A94657400AB0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40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274F09-2DCE-4F56-9975-DE3EB23FB400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84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11CE82-28C8-4FFC-99A7-82EA7815ABAC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279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A8CF76-6B67-4348-B79A-970CCF289AD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55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GR9866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1355814-455D-48AA-80A8-1FE3DED3733C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05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  <p:sldLayoutId id="2147483883" r:id="rId25"/>
    <p:sldLayoutId id="2147483884" r:id="rId26"/>
    <p:sldLayoutId id="2147483885" r:id="rId27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nemploy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6A7BF-411F-13EB-DBD9-0C3EA95DDEFC}"/>
              </a:ext>
            </a:extLst>
          </p:cNvPr>
          <p:cNvSpPr/>
          <p:nvPr/>
        </p:nvSpPr>
        <p:spPr>
          <a:xfrm>
            <a:off x="2529699" y="1230258"/>
            <a:ext cx="670138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 sz="6000" u="sng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UNEMPLOYMENT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B1839-25EB-0473-AD56-8522240EDA11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 unemployment rate 4.4% in Sep 2025: BLS - AlchemPro">
            <a:extLst>
              <a:ext uri="{FF2B5EF4-FFF2-40B4-BE49-F238E27FC236}">
                <a16:creationId xmlns:a16="http://schemas.microsoft.com/office/drawing/2014/main" id="{F0527C3A-1ED8-9FC9-4438-94E6A500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433" y="3108244"/>
            <a:ext cx="4863918" cy="3224893"/>
          </a:xfrm>
          <a:prstGeom prst="rect">
            <a:avLst/>
          </a:prstGeom>
        </p:spPr>
      </p:pic>
      <p:sp>
        <p:nvSpPr>
          <p:cNvPr id="7" name="Double Brace 6">
            <a:extLst>
              <a:ext uri="{FF2B5EF4-FFF2-40B4-BE49-F238E27FC236}">
                <a16:creationId xmlns:a16="http://schemas.microsoft.com/office/drawing/2014/main" id="{A5F54F3D-1E88-C4DF-F8B1-6A3EEA3C9373}"/>
              </a:ext>
            </a:extLst>
          </p:cNvPr>
          <p:cNvSpPr/>
          <p:nvPr/>
        </p:nvSpPr>
        <p:spPr>
          <a:xfrm>
            <a:off x="2852057" y="2884714"/>
            <a:ext cx="6063343" cy="3722915"/>
          </a:xfrm>
          <a:prstGeom prst="bracePair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EEA0FC2-8019-4224-2594-9A070FC92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2BA1D-BF8E-4A21-979C-222F7BB67E0A}" type="datetime1">
              <a:rPr lang="en-US" smtClean="0"/>
              <a:t>8/27/2026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D5B1702-147C-075C-886A-DD169F11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256650" y="2063357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368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000">
        <p:randomBar dir="vert"/>
        <p:sndAc>
          <p:stSnd>
            <p:snd r:embed="rId2" name="laser.wav"/>
          </p:stSnd>
        </p:sndAc>
      </p:transition>
    </mc:Choice>
    <mc:Fallback>
      <p:transition spd="slow">
        <p:randomBar dir="vert"/>
        <p:sndAc>
          <p:stSnd>
            <p:snd r:embed="rId2" name="las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6217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A32"/>
                </a:solidFill>
              </a:defRPr>
            </a:pPr>
            <a:r>
              <a:rPr dirty="0"/>
              <a:t>people who are willing and able to work but do not have a job.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32A32"/>
                </a:solidFill>
              </a:defRPr>
            </a:pPr>
            <a:r>
              <a:rPr dirty="0"/>
              <a:t>it affects income, productivity, living standards and economic growth.</a:t>
            </a:r>
          </a:p>
        </p:txBody>
      </p:sp>
      <p:pic>
        <p:nvPicPr>
          <p:cNvPr id="13" name="Picture 12" descr="Unemployment in India">
            <a:extLst>
              <a:ext uri="{FF2B5EF4-FFF2-40B4-BE49-F238E27FC236}">
                <a16:creationId xmlns:a16="http://schemas.microsoft.com/office/drawing/2014/main" id="{5F01C0FE-ADF3-2D4D-308A-3B6A7A8D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40" y="2184529"/>
            <a:ext cx="4476622" cy="25181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666178-7000-A6E2-DB15-8D8D8940E6C5}"/>
              </a:ext>
            </a:extLst>
          </p:cNvPr>
          <p:cNvSpPr txBox="1"/>
          <p:nvPr/>
        </p:nvSpPr>
        <p:spPr>
          <a:xfrm>
            <a:off x="2068286" y="18151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132D4E"/>
                </a:solidFill>
              </a:rPr>
              <a:t>UNEMPLOYMENT</a:t>
            </a:r>
            <a:endParaRPr lang="en-US" sz="3600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ACCF8F33-FFB3-53F7-173C-A1AC048AE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725A-6474-407D-8C97-480699FA680D}" type="datetime1">
              <a:rPr lang="en-US" smtClean="0"/>
              <a:t>8/27/2026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B49D1E3F-5A77-5881-A039-D89B75B0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147860" y="2001966"/>
            <a:ext cx="2973522" cy="365125"/>
          </a:xfrm>
        </p:spPr>
        <p:txBody>
          <a:bodyPr/>
          <a:lstStyle/>
          <a:p>
            <a:r>
              <a:rPr lang="en-US" dirty="0"/>
              <a:t>GR9866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3108" y="1459570"/>
            <a:ext cx="45784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>
                <a:solidFill>
                  <a:srgbClr val="132D4E"/>
                </a:solidFill>
              </a:rPr>
              <a:t>WHAT IS UNEMPLOYMENT?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943" y="2227217"/>
            <a:ext cx="640080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rPr dirty="0"/>
              <a:t>Unemployment occurs when people in the </a:t>
            </a:r>
            <a:r>
              <a:rPr lang="en-US" dirty="0" err="1"/>
              <a:t>L</a:t>
            </a:r>
            <a:r>
              <a:rPr dirty="0" err="1"/>
              <a:t>abour</a:t>
            </a:r>
            <a:r>
              <a:rPr dirty="0"/>
              <a:t> force are without work and are available for and seeking work.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rPr dirty="0"/>
              <a:t>Main forms: frictional, structural, cyclical and seasonal unemployment.</a:t>
            </a:r>
          </a:p>
          <a:p>
            <a:pPr>
              <a:spcAft>
                <a:spcPts val="1200"/>
              </a:spcAft>
              <a:defRPr sz="1900">
                <a:solidFill>
                  <a:srgbClr val="232A32"/>
                </a:solidFill>
              </a:defRPr>
            </a:pPr>
            <a:r>
              <a:rPr dirty="0"/>
              <a:t>A low unemployment rate does not automatically mean every available worker has a good or secure job.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691640"/>
            <a:ext cx="3457303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32D4E"/>
                </a:solidFill>
              </a:defRPr>
            </a:pPr>
            <a:r>
              <a:rPr sz="3600" dirty="0"/>
              <a:t>Key idea</a:t>
            </a:r>
          </a:p>
          <a:p>
            <a:pPr>
              <a:spcBef>
                <a:spcPts val="1200"/>
              </a:spcBef>
              <a:defRPr sz="1700">
                <a:solidFill>
                  <a:srgbClr val="232A32"/>
                </a:solidFill>
              </a:defRPr>
            </a:pPr>
            <a:r>
              <a:rPr lang="en-US" sz="1600" dirty="0" err="1"/>
              <a:t>L</a:t>
            </a:r>
            <a:r>
              <a:rPr sz="1600" dirty="0" err="1"/>
              <a:t>abour</a:t>
            </a:r>
            <a:r>
              <a:rPr sz="1600" dirty="0"/>
              <a:t> force = employed + unemployed people seeking/available for work.</a:t>
            </a:r>
          </a:p>
          <a:p>
            <a:pPr>
              <a:spcBef>
                <a:spcPts val="1200"/>
              </a:spcBef>
              <a:defRPr sz="1700">
                <a:solidFill>
                  <a:srgbClr val="232A32"/>
                </a:solidFill>
              </a:defRPr>
            </a:pPr>
            <a:r>
              <a:rPr sz="1600" dirty="0"/>
              <a:t>Unemployment rate measures unemployed people as a share of the </a:t>
            </a:r>
            <a:r>
              <a:rPr lang="en-US" sz="1600" dirty="0" err="1"/>
              <a:t>L</a:t>
            </a:r>
            <a:r>
              <a:rPr sz="1600" dirty="0" err="1"/>
              <a:t>abour</a:t>
            </a:r>
            <a:r>
              <a:rPr sz="1600" dirty="0"/>
              <a:t> force.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3E0ED68-8186-0099-F740-43EA760D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9749B-B04E-4285-9ABB-00FE84EDC428}" type="datetime1">
              <a:rPr lang="en-US" smtClean="0"/>
              <a:t>8/27/2026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847887-9266-DF0D-4F0A-B91FE040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252401" y="1944279"/>
            <a:ext cx="2973522" cy="365125"/>
          </a:xfrm>
        </p:spPr>
        <p:txBody>
          <a:bodyPr/>
          <a:lstStyle/>
          <a:p>
            <a:r>
              <a:rPr lang="en-US" dirty="0"/>
              <a:t>GR9866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21944" y="1325879"/>
            <a:ext cx="392851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u="sng" dirty="0">
                <a:solidFill>
                  <a:srgbClr val="132D4E"/>
                </a:solidFill>
              </a:rPr>
              <a:t>INDIA: SELECTED DATA</a:t>
            </a:r>
          </a:p>
        </p:txBody>
      </p:sp>
      <p:pic>
        <p:nvPicPr>
          <p:cNvPr id="5" name="Picture 4" descr="unemploymen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24173"/>
            <a:ext cx="6583680" cy="364884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437614"/>
              </p:ext>
            </p:extLst>
          </p:nvPr>
        </p:nvGraphicFramePr>
        <p:xfrm>
          <a:off x="7544888" y="1402079"/>
          <a:ext cx="4391298" cy="314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544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Indicator</a:t>
                      </a:r>
                    </a:p>
                  </a:txBody>
                  <a:tcPr>
                    <a:solidFill>
                      <a:srgbClr val="13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Year / period</a:t>
                      </a:r>
                    </a:p>
                  </a:txBody>
                  <a:tcPr>
                    <a:solidFill>
                      <a:srgbClr val="13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3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44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Overall unemployment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44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rPr dirty="0"/>
                        <a:t>Educated (secondary+)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443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Youth (15–29)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2"/>
                          </a:solidFill>
                        </a:defRPr>
                      </a:pPr>
                      <a:r>
                        <a:rPr dirty="0"/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4888" y="4632241"/>
            <a:ext cx="4206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A32"/>
                </a:solidFill>
              </a:defRPr>
            </a:pPr>
            <a:r>
              <a:rPr dirty="0"/>
              <a:t>Source: Government of India, </a:t>
            </a:r>
            <a:r>
              <a:rPr dirty="0" err="1"/>
              <a:t>MoSPI</a:t>
            </a:r>
            <a:r>
              <a:rPr dirty="0"/>
              <a:t> / PLFS 2025 and March 2026 bulletin.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F358C50-493D-F5C2-ADE4-F8B910EF3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19B2-397D-412A-ACB3-709B7FA1EE64}" type="datetime1">
              <a:rPr lang="en-US" smtClean="0"/>
              <a:t>8/27/2026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8478D4D-D28F-04BC-7A6F-BB7F102B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230947" y="2039998"/>
            <a:ext cx="2973522" cy="365125"/>
          </a:xfrm>
        </p:spPr>
        <p:txBody>
          <a:bodyPr/>
          <a:lstStyle/>
          <a:p>
            <a:r>
              <a:rPr lang="en-US" dirty="0"/>
              <a:t>GR9866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62987" y="904638"/>
            <a:ext cx="50013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600" u="sng" dirty="0">
                <a:solidFill>
                  <a:srgbClr val="132D4E"/>
                </a:solidFill>
              </a:rPr>
              <a:t>CAUSES AND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59429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3374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435"/>
                </a:solidFill>
              </a:defRPr>
            </a:pPr>
            <a:r>
              <a:rPr dirty="0"/>
              <a:t>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36669"/>
            <a:ext cx="46634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Skill mismatch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Slow job creation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Economic slowdown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Seasonal work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Technology &amp; structural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59429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46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59" y="2233749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F8435"/>
                </a:solidFill>
              </a:defRPr>
            </a:pPr>
            <a:r>
              <a:rPr dirty="0"/>
              <a:t>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736669"/>
            <a:ext cx="46634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Lower household income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Higher poverty risk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Loss of skills/productivity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Social stress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700">
                <a:solidFill>
                  <a:srgbClr val="232A32"/>
                </a:solidFill>
              </a:defRPr>
            </a:pPr>
            <a:r>
              <a:rPr dirty="0"/>
              <a:t>Slower inclusive growth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F50B70F-5D37-83D4-D0E3-A32F8FC3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4ED7-EFE3-43B5-AB15-104A82CE2CF1}" type="datetime1">
              <a:rPr lang="en-US" smtClean="0"/>
              <a:t>8/27/2026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536EF58-41CC-F9B5-5030-9F63B5363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272328" y="1944278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7" grpId="0"/>
      <p:bldP spid="8" grpId="0" animBg="1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7C7FF3-30AB-E782-480F-0C6302DF6578}"/>
              </a:ext>
            </a:extLst>
          </p:cNvPr>
          <p:cNvSpPr/>
          <p:nvPr/>
        </p:nvSpPr>
        <p:spPr>
          <a:xfrm>
            <a:off x="5110480" y="5812971"/>
            <a:ext cx="6182361" cy="859972"/>
          </a:xfrm>
          <a:prstGeom prst="roundRect">
            <a:avLst>
              <a:gd name="adj" fmla="val 36920"/>
            </a:avLst>
          </a:prstGeom>
          <a:solidFill>
            <a:srgbClr val="132D4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73480" y="1457380"/>
            <a:ext cx="64247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sz="3200" u="sng" dirty="0">
                <a:solidFill>
                  <a:srgbClr val="132D4E"/>
                </a:solidFill>
              </a:rPr>
              <a:t>SOLUTIONS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1" y="2662646"/>
            <a:ext cx="74980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rPr dirty="0"/>
              <a:t>Expand practical education, apprenticeships and industry-linked skills.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rPr dirty="0"/>
              <a:t>Support MSMEs, entrepreneurship and investment that create productive jobs.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rPr dirty="0"/>
              <a:t>Improve job matching, career guidance and access to </a:t>
            </a:r>
            <a:r>
              <a:rPr dirty="0" err="1"/>
              <a:t>labour</a:t>
            </a:r>
            <a:r>
              <a:rPr dirty="0"/>
              <a:t>-market information.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rPr dirty="0"/>
              <a:t>Promote formal, safe and productive employment alongside job creation.</a:t>
            </a:r>
          </a:p>
          <a:p>
            <a:pPr>
              <a:spcAft>
                <a:spcPts val="1200"/>
              </a:spcAft>
              <a:defRPr sz="1800">
                <a:solidFill>
                  <a:srgbClr val="232A32"/>
                </a:solidFill>
              </a:defRPr>
            </a:pPr>
            <a:r>
              <a:rPr dirty="0"/>
              <a:t>Conclusion: reducing unemployment requires both more jobs and better alignment between skills and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325880"/>
            <a:ext cx="2834640" cy="4297680"/>
          </a:xfrm>
          <a:prstGeom prst="round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645920"/>
            <a:ext cx="2286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REMEMBER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rPr dirty="0"/>
              <a:t>✓  Skills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rPr dirty="0"/>
              <a:t>✓  Investment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rPr dirty="0"/>
              <a:t>✓  Entrepreneurship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rPr dirty="0"/>
              <a:t>✓  Job matching</a:t>
            </a:r>
          </a:p>
          <a:p>
            <a:pPr>
              <a:spcBef>
                <a:spcPts val="1400"/>
              </a:spcBef>
              <a:defRPr sz="1700">
                <a:solidFill>
                  <a:srgbClr val="FFFFFF"/>
                </a:solidFill>
              </a:defRPr>
            </a:pPr>
            <a:r>
              <a:rPr dirty="0"/>
              <a:t>✓  Decent work</a:t>
            </a:r>
          </a:p>
        </p:txBody>
      </p:sp>
      <p:sp>
        <p:nvSpPr>
          <p:cNvPr id="12" name="TextBox 11">
            <a:hlinkClick r:id="rId3"/>
            <a:extLst>
              <a:ext uri="{FF2B5EF4-FFF2-40B4-BE49-F238E27FC236}">
                <a16:creationId xmlns:a16="http://schemas.microsoft.com/office/drawing/2014/main" id="{24D1534E-83D0-CB04-2EFC-662738B33B1D}"/>
              </a:ext>
            </a:extLst>
          </p:cNvPr>
          <p:cNvSpPr txBox="1"/>
          <p:nvPr/>
        </p:nvSpPr>
        <p:spPr>
          <a:xfrm>
            <a:off x="5882640" y="6073447"/>
            <a:ext cx="4937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  <a:solidFill>
                  <a:schemeClr val="bg1"/>
                </a:solidFill>
              </a:rPr>
              <a:t>https://en.wikipedia.org/wiki/Unemployment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ED43DCB-F88E-06B0-647B-862C31FD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C2B2F-A289-47B9-8EBF-81DFD3855C1D}" type="datetime1">
              <a:rPr lang="en-US" smtClean="0"/>
              <a:t>8/27/2026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BF3FDB90-EDFC-63B7-F23B-34AF56D62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257843" y="2039998"/>
            <a:ext cx="2973522" cy="365125"/>
          </a:xfrm>
        </p:spPr>
        <p:txBody>
          <a:bodyPr/>
          <a:lstStyle/>
          <a:p>
            <a:r>
              <a:rPr lang="en-US"/>
              <a:t>GR9866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/>
      <p:bldP spid="5" grpId="0"/>
      <p:bldP spid="6" grpId="0" animBg="1"/>
      <p:bldP spid="7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AD3386-BFA1-BA6A-F04F-4D2F0713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 flipH="1">
            <a:off x="-1313724" y="1944279"/>
            <a:ext cx="2973522" cy="365125"/>
          </a:xfrm>
        </p:spPr>
        <p:txBody>
          <a:bodyPr/>
          <a:lstStyle/>
          <a:p>
            <a:r>
              <a:rPr lang="en-US" dirty="0"/>
              <a:t>GR9866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DEB54-918F-35C3-DCB2-E06AEF9C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74F09-2DCE-4F56-9975-DE3EB23FB400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60203-36BC-486C-DE7B-979B5EBCDDB1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3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3DC46-1EE7-D720-8C27-38135C7F53F5}"/>
              </a:ext>
            </a:extLst>
          </p:cNvPr>
          <p:cNvSpPr txBox="1"/>
          <p:nvPr/>
        </p:nvSpPr>
        <p:spPr>
          <a:xfrm>
            <a:off x="-9526" y="2916147"/>
            <a:ext cx="12201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9377496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96</TotalTime>
  <Words>398</Words>
  <Application>Microsoft Office PowerPoint</Application>
  <PresentationFormat>Widescreen</PresentationFormat>
  <Paragraphs>70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Swati bharti</dc:creator>
  <cp:keywords/>
  <dc:description>generated using python-pptx</dc:description>
  <cp:lastModifiedBy>Csd</cp:lastModifiedBy>
  <cp:revision>3</cp:revision>
  <dcterms:created xsi:type="dcterms:W3CDTF">2013-01-27T09:14:16Z</dcterms:created>
  <dcterms:modified xsi:type="dcterms:W3CDTF">2026-08-27T09:48:22Z</dcterms:modified>
  <cp:category/>
</cp:coreProperties>
</file>